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Hanken Grotesk Medium"/>
      <p:regular r:id="rId20"/>
      <p:bold r:id="rId21"/>
      <p:italic r:id="rId22"/>
      <p:boldItalic r:id="rId23"/>
    </p:embeddedFont>
    <p:embeddedFont>
      <p:font typeface="Neuton Light"/>
      <p:regular r:id="rId24"/>
      <p:bold r:id="rId25"/>
      <p:boldItalic r:id="rId26"/>
    </p:embeddedFont>
    <p:embeddedFont>
      <p:font typeface="Hanken Grotesk"/>
      <p:regular r:id="rId27"/>
      <p:bold r:id="rId28"/>
      <p:italic r:id="rId29"/>
      <p:boldItalic r:id="rId30"/>
    </p:embeddedFont>
    <p:embeddedFont>
      <p:font typeface="Hanken Grotesk SemiBold"/>
      <p:regular r:id="rId31"/>
      <p:bold r:id="rId32"/>
      <p:italic r:id="rId33"/>
      <p:boldItalic r:id="rId34"/>
    </p:embeddedFont>
    <p:embeddedFont>
      <p:font typeface="Neuton"/>
      <p:regular r:id="rId35"/>
      <p:bold r:id="rId36"/>
      <p:italic r:id="rId37"/>
    </p:embeddedFont>
    <p:embeddedFont>
      <p:font typeface="Hanken Grotesk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1B8E15-D460-42F8-9AAE-7B64A3B78435}">
  <a:tblStyle styleId="{2F1B8E15-D460-42F8-9AAE-7B64A3B784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Light-italic.fntdata"/><Relationship Id="rId20" Type="http://schemas.openxmlformats.org/officeDocument/2006/relationships/font" Target="fonts/HankenGroteskMedium-regular.fntdata"/><Relationship Id="rId41" Type="http://schemas.openxmlformats.org/officeDocument/2006/relationships/font" Target="fonts/HankenGroteskLight-boldItalic.fntdata"/><Relationship Id="rId22" Type="http://schemas.openxmlformats.org/officeDocument/2006/relationships/font" Target="fonts/HankenGroteskMedium-italic.fntdata"/><Relationship Id="rId21" Type="http://schemas.openxmlformats.org/officeDocument/2006/relationships/font" Target="fonts/HankenGroteskMedium-bold.fntdata"/><Relationship Id="rId24" Type="http://schemas.openxmlformats.org/officeDocument/2006/relationships/font" Target="fonts/NeutonLight-regular.fntdata"/><Relationship Id="rId23" Type="http://schemas.openxmlformats.org/officeDocument/2006/relationships/font" Target="fonts/HankenGrotesk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eutonLight-boldItalic.fntdata"/><Relationship Id="rId25" Type="http://schemas.openxmlformats.org/officeDocument/2006/relationships/font" Target="fonts/NeutonLight-bold.fntdata"/><Relationship Id="rId28" Type="http://schemas.openxmlformats.org/officeDocument/2006/relationships/font" Target="fonts/HankenGrotesk-bold.fntdata"/><Relationship Id="rId27" Type="http://schemas.openxmlformats.org/officeDocument/2006/relationships/font" Target="fonts/HankenGrotesk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HankenGrotesk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ankenGroteskSemiBold-regular.fntdata"/><Relationship Id="rId30" Type="http://schemas.openxmlformats.org/officeDocument/2006/relationships/font" Target="fonts/HankenGrotesk-boldItalic.fntdata"/><Relationship Id="rId11" Type="http://schemas.openxmlformats.org/officeDocument/2006/relationships/slide" Target="slides/slide4.xml"/><Relationship Id="rId33" Type="http://schemas.openxmlformats.org/officeDocument/2006/relationships/font" Target="fonts/HankenGroteskSemiBold-italic.fntdata"/><Relationship Id="rId10" Type="http://schemas.openxmlformats.org/officeDocument/2006/relationships/slide" Target="slides/slide3.xml"/><Relationship Id="rId32" Type="http://schemas.openxmlformats.org/officeDocument/2006/relationships/font" Target="fonts/HankenGroteskSemiBold-bold.fntdata"/><Relationship Id="rId13" Type="http://schemas.openxmlformats.org/officeDocument/2006/relationships/slide" Target="slides/slide6.xml"/><Relationship Id="rId35" Type="http://schemas.openxmlformats.org/officeDocument/2006/relationships/font" Target="fonts/Neuton-regular.fntdata"/><Relationship Id="rId12" Type="http://schemas.openxmlformats.org/officeDocument/2006/relationships/slide" Target="slides/slide5.xml"/><Relationship Id="rId34" Type="http://schemas.openxmlformats.org/officeDocument/2006/relationships/font" Target="fonts/HankenGroteskSemiBold-boldItalic.fntdata"/><Relationship Id="rId15" Type="http://schemas.openxmlformats.org/officeDocument/2006/relationships/slide" Target="slides/slide8.xml"/><Relationship Id="rId37" Type="http://schemas.openxmlformats.org/officeDocument/2006/relationships/font" Target="fonts/Neuton-italic.fntdata"/><Relationship Id="rId14" Type="http://schemas.openxmlformats.org/officeDocument/2006/relationships/slide" Target="slides/slide7.xml"/><Relationship Id="rId36" Type="http://schemas.openxmlformats.org/officeDocument/2006/relationships/font" Target="fonts/Neuton-bold.fntdata"/><Relationship Id="rId17" Type="http://schemas.openxmlformats.org/officeDocument/2006/relationships/slide" Target="slides/slide10.xml"/><Relationship Id="rId39" Type="http://schemas.openxmlformats.org/officeDocument/2006/relationships/font" Target="fonts/HankenGroteskLight-bold.fntdata"/><Relationship Id="rId16" Type="http://schemas.openxmlformats.org/officeDocument/2006/relationships/slide" Target="slides/slide9.xml"/><Relationship Id="rId38" Type="http://schemas.openxmlformats.org/officeDocument/2006/relationships/font" Target="fonts/HankenGroteskLight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ac2142a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fac2142a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ac2142a3a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ac2142a3a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b15a1b81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fb15a1b81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fac2142a3a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fac2142a3a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ac2142a3a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fac2142a3a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fac2142a3a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fac2142a3a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acc63988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acc6398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facc63988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facc6398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acc63988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facc63988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ac2142a3a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ac2142a3a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acc63988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facc63988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acc63988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facc63988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4" name="Google Shape;664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59"/>
          <p:cNvSpPr txBox="1"/>
          <p:nvPr>
            <p:ph type="title"/>
          </p:nvPr>
        </p:nvSpPr>
        <p:spPr>
          <a:xfrm>
            <a:off x="593175" y="486000"/>
            <a:ext cx="6840900" cy="157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000"/>
              <a:t>Civic Services Platform: Complaint Management System</a:t>
            </a:r>
            <a:endParaRPr sz="4000"/>
          </a:p>
        </p:txBody>
      </p:sp>
      <p:sp>
        <p:nvSpPr>
          <p:cNvPr id="666" name="Google Shape;666;p5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Team 107</a:t>
            </a:r>
            <a:endParaRPr/>
          </a:p>
        </p:txBody>
      </p:sp>
      <p:sp>
        <p:nvSpPr>
          <p:cNvPr id="667" name="Google Shape;667;p59"/>
          <p:cNvSpPr txBox="1"/>
          <p:nvPr>
            <p:ph idx="3" type="subTitle"/>
          </p:nvPr>
        </p:nvSpPr>
        <p:spPr>
          <a:xfrm>
            <a:off x="68249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2026, Aug</a:t>
            </a:r>
            <a:endParaRPr/>
          </a:p>
        </p:txBody>
      </p:sp>
      <p:pic>
        <p:nvPicPr>
          <p:cNvPr id="668" name="Google Shape;66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75" y="3766350"/>
            <a:ext cx="1315000" cy="13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59"/>
          <p:cNvSpPr txBox="1"/>
          <p:nvPr>
            <p:ph idx="3" type="subTitle"/>
          </p:nvPr>
        </p:nvSpPr>
        <p:spPr>
          <a:xfrm>
            <a:off x="2752924" y="4570800"/>
            <a:ext cx="31167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IITM Online BS Degree Program, </a:t>
            </a:r>
            <a:endParaRPr sz="11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Indian Institute of Technology, Madras, Chennai </a:t>
            </a:r>
            <a:endParaRPr sz="11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Tamil Nadu, India, 600036 </a:t>
            </a:r>
            <a:endParaRPr sz="11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0"/>
          <p:cNvSpPr txBox="1"/>
          <p:nvPr>
            <p:ph idx="1" type="subTitle"/>
          </p:nvPr>
        </p:nvSpPr>
        <p:spPr>
          <a:xfrm>
            <a:off x="205200" y="607025"/>
            <a:ext cx="52392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b="0" lang="en" sz="3300">
                <a:latin typeface="Neuton Light"/>
                <a:ea typeface="Neuton Light"/>
                <a:cs typeface="Neuton Light"/>
                <a:sym typeface="Neuton Light"/>
              </a:rPr>
              <a:t>TEAM INTRODUCTION</a:t>
            </a:r>
            <a:endParaRPr b="0" sz="3300">
              <a:latin typeface="Neuton"/>
              <a:ea typeface="Neuton"/>
              <a:cs typeface="Neuton"/>
              <a:sym typeface="Neuton"/>
            </a:endParaRPr>
          </a:p>
        </p:txBody>
      </p:sp>
      <p:graphicFrame>
        <p:nvGraphicFramePr>
          <p:cNvPr id="675" name="Google Shape;675;p60"/>
          <p:cNvGraphicFramePr/>
          <p:nvPr/>
        </p:nvGraphicFramePr>
        <p:xfrm>
          <a:off x="870425" y="156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{2F1B8E15-D460-42F8-9AAE-7B64A3B78435}</a:tableStyleId>
              </a:tblPr>
              <a:tblGrid>
                <a:gridCol w="2495075"/>
                <a:gridCol w="2413000"/>
                <a:gridCol w="24130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Team Members  </a:t>
                      </a:r>
                      <a:endParaRPr b="1" sz="1600"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Student ID </a:t>
                      </a:r>
                      <a:endParaRPr b="1" sz="1600"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Role </a:t>
                      </a:r>
                      <a:endParaRPr b="1" sz="1600"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Ausha Murthy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21f1006306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Frontend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Paramveer Singh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21f1006266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Backend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Utkarsh Omre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23f3000151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Frontend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Someshwar Srimany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21f1002093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Backend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Shahzada Moon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23f2002668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Testing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Ritesh Kumar Jha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23f3002470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Backend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6" name="Google Shape;676;p60"/>
          <p:cNvSpPr txBox="1"/>
          <p:nvPr/>
        </p:nvSpPr>
        <p:spPr>
          <a:xfrm>
            <a:off x="3820500" y="990425"/>
            <a:ext cx="1706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TEAM 107</a:t>
            </a:r>
            <a:endParaRPr b="1" sz="2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7" name="Google Shape;677;p60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  <p:sp>
        <p:nvSpPr>
          <p:cNvPr id="678" name="Google Shape;678;p60"/>
          <p:cNvSpPr txBox="1"/>
          <p:nvPr/>
        </p:nvSpPr>
        <p:spPr>
          <a:xfrm>
            <a:off x="-424075" y="2038250"/>
            <a:ext cx="787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1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200"/>
              <a:t>THE PROBLEM STATEMENT</a:t>
            </a:r>
            <a:endParaRPr sz="2200"/>
          </a:p>
        </p:txBody>
      </p:sp>
      <p:sp>
        <p:nvSpPr>
          <p:cNvPr id="684" name="Google Shape;684;p61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  <p:sp>
        <p:nvSpPr>
          <p:cNvPr id="685" name="Google Shape;685;p61"/>
          <p:cNvSpPr txBox="1"/>
          <p:nvPr>
            <p:ph idx="2" type="title"/>
          </p:nvPr>
        </p:nvSpPr>
        <p:spPr>
          <a:xfrm>
            <a:off x="850" y="1079001"/>
            <a:ext cx="9150600" cy="32019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Municipal/civic grievance redressal — a real, common civic pain point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Today: complaints phoned in or filed on paper/ad-hoc portals, no tracking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Serves citizens, field officers, and municipal chairman/administration across wards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2400"/>
          </a:p>
        </p:txBody>
      </p:sp>
      <p:pic>
        <p:nvPicPr>
          <p:cNvPr id="686" name="Google Shape;686;p61" title="images (30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" y="2909100"/>
            <a:ext cx="2776300" cy="185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61" title="images (3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249" y="2677744"/>
            <a:ext cx="2776301" cy="2082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61" title="telangana-rain-flood-pti_V_jpg--442x260-4g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7513" y="2909100"/>
            <a:ext cx="3146488" cy="18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2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200"/>
              <a:t>PROBLEMS FACED</a:t>
            </a:r>
            <a:endParaRPr sz="2200"/>
          </a:p>
        </p:txBody>
      </p:sp>
      <p:sp>
        <p:nvSpPr>
          <p:cNvPr id="694" name="Google Shape;694;p62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  <p:sp>
        <p:nvSpPr>
          <p:cNvPr id="695" name="Google Shape;695;p62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visibility for citizens into complaint status after filing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prioritization — officers work complaints in random order, not by severity/urgency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Duplicate complaints from multiple citizens for the same issue go untracked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SLA enforcement — complaints sit open indefinitely with no escalation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structured performance data on officers/wards for the chairman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Manual, disconnected communication between citizen ↔ officer ↔ administration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3"/>
          <p:cNvSpPr txBox="1"/>
          <p:nvPr>
            <p:ph idx="1" type="subTitle"/>
          </p:nvPr>
        </p:nvSpPr>
        <p:spPr>
          <a:xfrm>
            <a:off x="594025" y="550400"/>
            <a:ext cx="67188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200"/>
              <a:t>OUR SOLUTION: CIVIC SERVICES PLATFORM</a:t>
            </a:r>
            <a:endParaRPr sz="2200"/>
          </a:p>
        </p:txBody>
      </p:sp>
      <p:sp>
        <p:nvSpPr>
          <p:cNvPr id="701" name="Google Shape;701;p63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  <p:sp>
        <p:nvSpPr>
          <p:cNvPr id="702" name="Google Shape;702;p63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visibility for citizens into complaint status after filing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prioritization — officers work complaints in random order, not by severity/urgency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Duplicate complaints from multiple citizens for the same issue go untracked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SLA enforcement — complaints sit open indefinitely with no escalation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No structured performance data on officers/wards for the chairman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Manual, disconnected communication between citizen ↔ officer ↔ administration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4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THREE USER ROLES</a:t>
            </a:r>
            <a:endParaRPr sz="1800"/>
          </a:p>
        </p:txBody>
      </p:sp>
      <p:sp>
        <p:nvSpPr>
          <p:cNvPr id="708" name="Google Shape;708;p64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  <p:sp>
        <p:nvSpPr>
          <p:cNvPr id="709" name="Google Shape;709;p64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highlight>
                <a:schemeClr val="accent4"/>
              </a:highlight>
              <a:latin typeface="Neuton"/>
              <a:ea typeface="Neuton"/>
              <a:cs typeface="Neuton"/>
              <a:sym typeface="Neuto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highlight>
                  <a:schemeClr val="accent4"/>
                </a:highlight>
                <a:latin typeface="Neuton"/>
                <a:ea typeface="Neuton"/>
                <a:cs typeface="Neuton"/>
                <a:sym typeface="Neuton"/>
              </a:rPr>
              <a:t>Citizen</a:t>
            </a:r>
            <a:r>
              <a:rPr lang="en" sz="2300"/>
              <a:t> – Submit complaints, track status in plain language, view assigned officer, rate resolution</a:t>
            </a:r>
            <a:endParaRPr sz="2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highlight>
                  <a:schemeClr val="accent1"/>
                </a:highlight>
                <a:latin typeface="Neuton"/>
                <a:ea typeface="Neuton"/>
                <a:cs typeface="Neuton"/>
                <a:sym typeface="Neuton"/>
              </a:rPr>
              <a:t>Field Officer</a:t>
            </a:r>
            <a:r>
              <a:rPr lang="en" sz="2300"/>
              <a:t> – Priority queue (score-sorted), ticket detail, progress-note logging, resolution close-out</a:t>
            </a:r>
            <a:endParaRPr sz="2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highlight>
                  <a:schemeClr val="accent2"/>
                </a:highlight>
                <a:latin typeface="Neuton"/>
                <a:ea typeface="Neuton"/>
                <a:cs typeface="Neuton"/>
                <a:sym typeface="Neuton"/>
              </a:rPr>
              <a:t>Municipal Chairman</a:t>
            </a:r>
            <a:r>
              <a:rPr lang="en" sz="2300"/>
              <a:t> – City-wide overview, duplicate-cluster heatmap, officer performance &amp; feedback analytics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5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latin typeface="Neuton"/>
                <a:ea typeface="Neuton"/>
                <a:cs typeface="Neuton"/>
                <a:sym typeface="Neuton"/>
              </a:rPr>
              <a:t>CITIZEN:</a:t>
            </a:r>
            <a:endParaRPr b="1" sz="2700">
              <a:latin typeface="Neuton"/>
              <a:ea typeface="Neuton"/>
              <a:cs typeface="Neuton"/>
              <a:sym typeface="Neuto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latin typeface="Neuton"/>
              <a:ea typeface="Neuton"/>
              <a:cs typeface="Neuton"/>
              <a:sym typeface="Neuto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From interview to implementation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US-01</a:t>
            </a:r>
            <a:r>
              <a:rPr lang="en" sz="2100"/>
              <a:t> Submit a complaint with location, category, description, and images — officers act without needing to follow up.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US-02 </a:t>
            </a:r>
            <a:r>
              <a:rPr lang="en" sz="2100"/>
              <a:t>Track status throughout the lifecycle without contacting anyone.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US-04</a:t>
            </a:r>
            <a:r>
              <a:rPr lang="en" sz="2100"/>
              <a:t> Rate the resolution, so a poor fix gets flagged instead of silently re-filed.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15" name="Google Shape;715;p65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USER STORIES</a:t>
            </a:r>
            <a:endParaRPr sz="1800"/>
          </a:p>
        </p:txBody>
      </p:sp>
      <p:sp>
        <p:nvSpPr>
          <p:cNvPr id="716" name="Google Shape;716;p65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6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Neuton"/>
                <a:ea typeface="Neuton"/>
                <a:cs typeface="Neuton"/>
                <a:sym typeface="Neuton"/>
              </a:rPr>
              <a:t>FIELD OFFICER:</a:t>
            </a:r>
            <a:endParaRPr b="1" sz="2700">
              <a:latin typeface="Neuton"/>
              <a:ea typeface="Neuton"/>
              <a:cs typeface="Neuton"/>
              <a:sym typeface="Neut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Neuton"/>
              <a:ea typeface="Neuton"/>
              <a:cs typeface="Neuton"/>
              <a:sym typeface="Neuto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Working the queue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US-06</a:t>
            </a:r>
            <a:r>
              <a:rPr lang="en" sz="2100"/>
              <a:t> See complaints ordered by priority, not submission order.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US-08</a:t>
            </a:r>
            <a:r>
              <a:rPr lang="en" sz="2100"/>
              <a:t> Have similar complaints already grouped into one ticket before it reaches the queue.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US-09</a:t>
            </a:r>
            <a:r>
              <a:rPr lang="en" sz="2100"/>
              <a:t> See how many citizens reported the same issue, to weigh urgency.</a:t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22" name="Google Shape;722;p66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USER STORIES</a:t>
            </a:r>
            <a:endParaRPr sz="1800"/>
          </a:p>
        </p:txBody>
      </p:sp>
      <p:sp>
        <p:nvSpPr>
          <p:cNvPr id="723" name="Google Shape;723;p66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7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Neuton"/>
                <a:ea typeface="Neuton"/>
                <a:cs typeface="Neuton"/>
                <a:sym typeface="Neuton"/>
              </a:rPr>
              <a:t>CHAIRMAN:</a:t>
            </a:r>
            <a:endParaRPr b="1" sz="2700">
              <a:latin typeface="Neuton"/>
              <a:ea typeface="Neuton"/>
              <a:cs typeface="Neuton"/>
              <a:sym typeface="Neuto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Neuton"/>
              <a:ea typeface="Neuton"/>
              <a:cs typeface="Neuton"/>
              <a:sym typeface="Neuto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Seeing the whole city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US-10</a:t>
            </a:r>
            <a:r>
              <a:rPr lang="en" sz="2100"/>
              <a:t> View high-priority and delayed complaints in one place.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US-11</a:t>
            </a:r>
            <a:r>
              <a:rPr lang="en" sz="2100"/>
              <a:t> See duplicate complaint clusters to spot problem areas.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US-12 </a:t>
            </a:r>
            <a:r>
              <a:rPr lang="en" sz="2100"/>
              <a:t>Review citizen feedback and officer performance together.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29" name="Google Shape;729;p67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USER STORIES</a:t>
            </a:r>
            <a:endParaRPr sz="1800"/>
          </a:p>
        </p:txBody>
      </p:sp>
      <p:sp>
        <p:nvSpPr>
          <p:cNvPr id="730" name="Google Shape;730;p6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8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KEY FEATURES &amp; USP</a:t>
            </a:r>
            <a:endParaRPr sz="1800"/>
          </a:p>
        </p:txBody>
      </p:sp>
      <p:sp>
        <p:nvSpPr>
          <p:cNvPr id="736" name="Google Shape;736;p68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  <p:sp>
        <p:nvSpPr>
          <p:cNvPr id="737" name="Google Shape;737;p68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latin typeface="Neuton"/>
              <a:ea typeface="Neuton"/>
              <a:cs typeface="Neuton"/>
              <a:sym typeface="Neuto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Score-Based Priority Queue</a:t>
            </a:r>
            <a:r>
              <a:rPr lang="en" sz="2100"/>
              <a:t> – Officers see highest-impact tickets first, not FIFO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SLA Breach Monitor</a:t>
            </a:r>
            <a:r>
              <a:rPr lang="en" sz="2100"/>
              <a:t> – Background job auto-flags overdue tickets and notifies every reporting citizen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Duplicate Complaint Merge</a:t>
            </a:r>
            <a:r>
              <a:rPr lang="en" sz="2100"/>
              <a:t> – Multiple citizens reporting the same issue map to one ticket, all kept notified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Full Audit Trail</a:t>
            </a:r>
            <a:r>
              <a:rPr lang="en" sz="2100"/>
              <a:t> – Every status change logged (TicketLog) for transparency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Role-Gated JWT Auth</a:t>
            </a:r>
            <a:r>
              <a:rPr lang="en" sz="2100"/>
              <a:t> – Signup/login/refresh with per-role dashboards (Citizen/Officer/Chairman)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9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PROJECT PHASES</a:t>
            </a:r>
            <a:endParaRPr sz="1800"/>
          </a:p>
        </p:txBody>
      </p:sp>
      <p:sp>
        <p:nvSpPr>
          <p:cNvPr id="743" name="Google Shape;743;p6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  <p:sp>
        <p:nvSpPr>
          <p:cNvPr id="744" name="Google Shape;744;p69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Milestone 1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User Discovery &amp; Requirements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Interviews with citizens and authorities; US-01–US-12 established.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Milestone 2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System Architecture &amp; Design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Schema, wireframes, and component boundaries defined.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Sprint 1 · M3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Core API &amp; Initial Development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Flask backend stood up: officer, chairman, and SLA-monitor endpoints.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Sprint 2 · M4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Advanced Features &amp; Integration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Citizen complaint flow, frontend–backend integration, accessibility passes.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Milestone 5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Final Integration this deck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Test suite hardened to 36/36 backend, 32/32 frontend passing; full loop demo-ready.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0"/>
          <p:cNvSpPr txBox="1"/>
          <p:nvPr>
            <p:ph idx="2" type="title"/>
          </p:nvPr>
        </p:nvSpPr>
        <p:spPr>
          <a:xfrm>
            <a:off x="850" y="1079000"/>
            <a:ext cx="9150600" cy="36810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8000" lIns="252000" spcFirstLastPara="1" rIns="252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Real Speech-to-Text</a:t>
            </a:r>
            <a:endParaRPr b="1" sz="2100">
              <a:latin typeface="Neuton"/>
              <a:ea typeface="Neuton"/>
              <a:cs typeface="Neuton"/>
              <a:sym typeface="Neuto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Voice complaints are recorded as evidence today; a transcription provider turns that audio into searchable text.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Offline Replay Queue</a:t>
            </a:r>
            <a:endParaRPr b="1" sz="2100">
              <a:latin typeface="Neuton"/>
              <a:ea typeface="Neuton"/>
              <a:cs typeface="Neuton"/>
              <a:sym typeface="Neuto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The server already refuses duplicate submissions by client ID — next is local persistence so an offline submission survives and replays.</a:t>
            </a:r>
            <a:endParaRPr b="1" sz="2100"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Neuton"/>
                <a:ea typeface="Neuton"/>
                <a:cs typeface="Neuton"/>
                <a:sym typeface="Neuton"/>
              </a:rPr>
              <a:t>Real Zone Geometry</a:t>
            </a:r>
            <a:endParaRPr b="1" sz="2100">
              <a:latin typeface="Neuton"/>
              <a:ea typeface="Neuton"/>
              <a:cs typeface="Neuton"/>
              <a:sym typeface="Neuto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Replace coordinate-based zone resolution with an actual municipal boundary lookup.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750" name="Google Shape;750;p70"/>
          <p:cNvSpPr txBox="1"/>
          <p:nvPr>
            <p:ph idx="1" type="subTitle"/>
          </p:nvPr>
        </p:nvSpPr>
        <p:spPr>
          <a:xfrm>
            <a:off x="594025" y="550400"/>
            <a:ext cx="36963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800"/>
              <a:t>CONCLUSION &amp; VISION </a:t>
            </a:r>
            <a:endParaRPr sz="1800"/>
          </a:p>
        </p:txBody>
      </p:sp>
      <p:sp>
        <p:nvSpPr>
          <p:cNvPr id="751" name="Google Shape;751;p70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TEAM 107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